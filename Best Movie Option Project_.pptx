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bold.fntdata"/><Relationship Id="rId6" Type="http://schemas.openxmlformats.org/officeDocument/2006/relationships/slide" Target="slides/slide1.xml"/><Relationship Id="rId18"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0a048868e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0a048868e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0a048868e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0a048868e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0a048868e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0a048868e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0a048868e4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0a048868e4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0a048868e4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0a048868e4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0a048868e4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0a048868e4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0a048868e4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0a048868e4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0a1b4e3f5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0a1b4e3f5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0a048868e4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0a048868e4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a048868e4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0a048868e4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0a1b4e3f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0a1b4e3f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0a048868e4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0a048868e4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tr"/>
              <a:t>Best Movie Option Project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tr"/>
              <a:t>Ahmet Karaoglan</a:t>
            </a:r>
            <a:endParaRPr/>
          </a:p>
          <a:p>
            <a:pPr indent="0" lvl="0" marL="0" rtl="0" algn="ctr">
              <a:spcBef>
                <a:spcPts val="0"/>
              </a:spcBef>
              <a:spcAft>
                <a:spcPts val="0"/>
              </a:spcAft>
              <a:buNone/>
            </a:pPr>
            <a:r>
              <a:rPr lang="tr"/>
              <a:t>December 28,2021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Overview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42900" lvl="0" marL="457200" rtl="0" algn="l">
              <a:spcBef>
                <a:spcPts val="1200"/>
              </a:spcBef>
              <a:spcAft>
                <a:spcPts val="0"/>
              </a:spcAft>
              <a:buSzPts val="1800"/>
              <a:buChar char="●"/>
            </a:pPr>
            <a:r>
              <a:rPr lang="tr"/>
              <a:t>I have been tasked with examining recent film data in order to come up with actionable recommendations for microsoft's entry into film making</a:t>
            </a:r>
            <a:endParaRPr/>
          </a:p>
          <a:p>
            <a:pPr indent="-342900" lvl="0" marL="457200" rtl="0" algn="l">
              <a:spcBef>
                <a:spcPts val="0"/>
              </a:spcBef>
              <a:spcAft>
                <a:spcPts val="0"/>
              </a:spcAft>
              <a:buSzPts val="1800"/>
              <a:buChar char="●"/>
            </a:pPr>
            <a:r>
              <a:rPr lang="tr"/>
              <a:t>They decided to consider the data</a:t>
            </a:r>
            <a:endParaRPr/>
          </a:p>
          <a:p>
            <a:pPr indent="-342900" lvl="0" marL="457200" rtl="0" algn="l">
              <a:spcBef>
                <a:spcPts val="0"/>
              </a:spcBef>
              <a:spcAft>
                <a:spcPts val="0"/>
              </a:spcAft>
              <a:buSzPts val="1800"/>
              <a:buChar char="●"/>
            </a:pPr>
            <a:r>
              <a:rPr lang="tr"/>
              <a:t> I will focus on film  director genres and revenue areas.</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Areas of Focus</a:t>
            </a:r>
            <a:endParaRPr/>
          </a:p>
        </p:txBody>
      </p:sp>
      <p:sp>
        <p:nvSpPr>
          <p:cNvPr id="67" name="Google Shape;67;p15"/>
          <p:cNvSpPr txBox="1"/>
          <p:nvPr/>
        </p:nvSpPr>
        <p:spPr>
          <a:xfrm>
            <a:off x="3616900" y="1831925"/>
            <a:ext cx="23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8" name="Google Shape;68;p15"/>
          <p:cNvSpPr/>
          <p:nvPr/>
        </p:nvSpPr>
        <p:spPr>
          <a:xfrm>
            <a:off x="6380450" y="1855500"/>
            <a:ext cx="2451900" cy="207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5"/>
          <p:cNvSpPr/>
          <p:nvPr/>
        </p:nvSpPr>
        <p:spPr>
          <a:xfrm>
            <a:off x="3479913" y="1855500"/>
            <a:ext cx="2681100" cy="2129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p:nvPr/>
        </p:nvSpPr>
        <p:spPr>
          <a:xfrm>
            <a:off x="618475" y="1855425"/>
            <a:ext cx="2630400" cy="2074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tr"/>
              <a:t>The most watched genre will be determined by considering the data.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1" name="Google Shape;71;p15"/>
          <p:cNvSpPr/>
          <p:nvPr/>
        </p:nvSpPr>
        <p:spPr>
          <a:xfrm>
            <a:off x="6392075" y="1820350"/>
            <a:ext cx="2451900" cy="645000"/>
          </a:xfrm>
          <a:prstGeom prst="rect">
            <a:avLst/>
          </a:prstGeom>
          <a:solidFill>
            <a:srgbClr val="0E94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Roboto"/>
                <a:ea typeface="Roboto"/>
                <a:cs typeface="Roboto"/>
                <a:sym typeface="Roboto"/>
              </a:rPr>
              <a:t>REVENUES</a:t>
            </a:r>
            <a:endParaRPr b="1" sz="1600">
              <a:solidFill>
                <a:srgbClr val="FFFFFF"/>
              </a:solidFill>
            </a:endParaRPr>
          </a:p>
        </p:txBody>
      </p:sp>
      <p:sp>
        <p:nvSpPr>
          <p:cNvPr id="72" name="Google Shape;72;p15"/>
          <p:cNvSpPr/>
          <p:nvPr/>
        </p:nvSpPr>
        <p:spPr>
          <a:xfrm>
            <a:off x="3499475" y="1820350"/>
            <a:ext cx="2630400" cy="645000"/>
          </a:xfrm>
          <a:prstGeom prst="rect">
            <a:avLst/>
          </a:prstGeom>
          <a:solidFill>
            <a:srgbClr val="0E94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latin typeface="Roboto"/>
                <a:ea typeface="Roboto"/>
                <a:cs typeface="Roboto"/>
                <a:sym typeface="Roboto"/>
              </a:rPr>
              <a:t>DIRECTORS</a:t>
            </a:r>
            <a:r>
              <a:rPr lang="tr" sz="1200">
                <a:solidFill>
                  <a:srgbClr val="FFFFFF"/>
                </a:solidFill>
                <a:latin typeface="Roboto"/>
                <a:ea typeface="Roboto"/>
                <a:cs typeface="Roboto"/>
                <a:sym typeface="Roboto"/>
              </a:rPr>
              <a:t> </a:t>
            </a:r>
            <a:endParaRPr sz="1600">
              <a:solidFill>
                <a:srgbClr val="FFFFFF"/>
              </a:solidFill>
            </a:endParaRPr>
          </a:p>
        </p:txBody>
      </p:sp>
      <p:sp>
        <p:nvSpPr>
          <p:cNvPr id="73" name="Google Shape;73;p15"/>
          <p:cNvSpPr/>
          <p:nvPr/>
        </p:nvSpPr>
        <p:spPr>
          <a:xfrm>
            <a:off x="618475" y="1845250"/>
            <a:ext cx="2630400" cy="572700"/>
          </a:xfrm>
          <a:prstGeom prst="rect">
            <a:avLst/>
          </a:prstGeom>
          <a:solidFill>
            <a:srgbClr val="0E94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tr" sz="1200">
                <a:solidFill>
                  <a:srgbClr val="FFFFFF"/>
                </a:solidFill>
              </a:rPr>
              <a:t>GENRE</a:t>
            </a:r>
            <a:endParaRPr b="1" sz="1200">
              <a:solidFill>
                <a:srgbClr val="FFFFFF"/>
              </a:solidFill>
            </a:endParaRPr>
          </a:p>
        </p:txBody>
      </p:sp>
      <p:sp>
        <p:nvSpPr>
          <p:cNvPr id="74" name="Google Shape;74;p15"/>
          <p:cNvSpPr txBox="1"/>
          <p:nvPr/>
        </p:nvSpPr>
        <p:spPr>
          <a:xfrm>
            <a:off x="3546425" y="2513025"/>
            <a:ext cx="2262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tr"/>
              <a:t>Identify the directors of the best rated movies</a:t>
            </a:r>
            <a:endParaRPr/>
          </a:p>
        </p:txBody>
      </p:sp>
      <p:sp>
        <p:nvSpPr>
          <p:cNvPr id="75" name="Google Shape;75;p15"/>
          <p:cNvSpPr txBox="1"/>
          <p:nvPr/>
        </p:nvSpPr>
        <p:spPr>
          <a:xfrm>
            <a:off x="6450900" y="2536525"/>
            <a:ext cx="1918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tr"/>
              <a:t>As in every project, the best revenue will be determined.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Genre Analysis</a:t>
            </a:r>
            <a:endParaRPr/>
          </a:p>
        </p:txBody>
      </p:sp>
      <p:sp>
        <p:nvSpPr>
          <p:cNvPr id="81" name="Google Shape;81;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best 5 genre to be observed</a:t>
            </a:r>
            <a:endParaRPr/>
          </a:p>
          <a:p>
            <a:pPr indent="0" lvl="0" marL="0" rtl="0" algn="l">
              <a:spcBef>
                <a:spcPts val="1200"/>
              </a:spcBef>
              <a:spcAft>
                <a:spcPts val="0"/>
              </a:spcAft>
              <a:buNone/>
            </a:pPr>
            <a:r>
              <a:rPr lang="tr"/>
              <a:t>Conclusions</a:t>
            </a:r>
            <a:endParaRPr/>
          </a:p>
          <a:p>
            <a:pPr indent="-342900" lvl="0" marL="457200" rtl="0" algn="l">
              <a:spcBef>
                <a:spcPts val="1200"/>
              </a:spcBef>
              <a:spcAft>
                <a:spcPts val="0"/>
              </a:spcAft>
              <a:buSzPts val="1800"/>
              <a:buChar char="●"/>
            </a:pPr>
            <a:r>
              <a:rPr lang="tr"/>
              <a:t>the company should focus on those gender</a:t>
            </a:r>
            <a:endParaRPr/>
          </a:p>
          <a:p>
            <a:pPr indent="-342900" lvl="0" marL="457200" rtl="0" algn="l">
              <a:spcBef>
                <a:spcPts val="0"/>
              </a:spcBef>
              <a:spcAft>
                <a:spcPts val="0"/>
              </a:spcAft>
              <a:buSzPts val="1800"/>
              <a:buAutoNum type="arabicPeriod"/>
            </a:pPr>
            <a:r>
              <a:rPr lang="tr"/>
              <a:t>Drama</a:t>
            </a:r>
            <a:endParaRPr/>
          </a:p>
          <a:p>
            <a:pPr indent="-342900" lvl="0" marL="457200" rtl="0" algn="l">
              <a:spcBef>
                <a:spcPts val="0"/>
              </a:spcBef>
              <a:spcAft>
                <a:spcPts val="0"/>
              </a:spcAft>
              <a:buSzPts val="1800"/>
              <a:buAutoNum type="arabicPeriod"/>
            </a:pPr>
            <a:r>
              <a:rPr lang="tr"/>
              <a:t>Action</a:t>
            </a:r>
            <a:endParaRPr/>
          </a:p>
          <a:p>
            <a:pPr indent="-342900" lvl="0" marL="457200" rtl="0" algn="l">
              <a:spcBef>
                <a:spcPts val="0"/>
              </a:spcBef>
              <a:spcAft>
                <a:spcPts val="0"/>
              </a:spcAft>
              <a:buSzPts val="1800"/>
              <a:buAutoNum type="arabicPeriod"/>
            </a:pPr>
            <a:r>
              <a:rPr lang="tr"/>
              <a:t>Adventure</a:t>
            </a:r>
            <a:endParaRPr/>
          </a:p>
          <a:p>
            <a:pPr indent="-342900" lvl="0" marL="457200" rtl="0" algn="l">
              <a:spcBef>
                <a:spcPts val="0"/>
              </a:spcBef>
              <a:spcAft>
                <a:spcPts val="0"/>
              </a:spcAft>
              <a:buSzPts val="1800"/>
              <a:buAutoNum type="arabicPeriod"/>
            </a:pPr>
            <a:r>
              <a:rPr lang="tr"/>
              <a:t>Crime</a:t>
            </a:r>
            <a:endParaRPr/>
          </a:p>
          <a:p>
            <a:pPr indent="-342900" lvl="0" marL="457200" rtl="0" algn="l">
              <a:spcBef>
                <a:spcPts val="0"/>
              </a:spcBef>
              <a:spcAft>
                <a:spcPts val="0"/>
              </a:spcAft>
              <a:buSzPts val="1800"/>
              <a:buAutoNum type="arabicPeriod"/>
            </a:pPr>
            <a:r>
              <a:rPr lang="tr"/>
              <a:t>Sci-fi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Genre Analysis</a:t>
            </a:r>
            <a:endParaRPr/>
          </a:p>
        </p:txBody>
      </p:sp>
      <p:sp>
        <p:nvSpPr>
          <p:cNvPr id="87" name="Google Shape;8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tr"/>
              <a:t>Findings: </a:t>
            </a:r>
            <a:endParaRPr b="1"/>
          </a:p>
          <a:p>
            <a:pPr indent="-342900" lvl="0" marL="457200" rtl="0" algn="l">
              <a:spcBef>
                <a:spcPts val="1200"/>
              </a:spcBef>
              <a:spcAft>
                <a:spcPts val="0"/>
              </a:spcAft>
              <a:buSzPts val="1800"/>
              <a:buChar char="●"/>
            </a:pPr>
            <a:r>
              <a:rPr lang="tr"/>
              <a:t>M</a:t>
            </a:r>
            <a:r>
              <a:rPr lang="tr"/>
              <a:t>ost preferred genre identified</a:t>
            </a:r>
            <a:endParaRPr/>
          </a:p>
          <a:p>
            <a:pPr indent="0" lvl="0" marL="0" rtl="0" algn="l">
              <a:spcBef>
                <a:spcPts val="1200"/>
              </a:spcBef>
              <a:spcAft>
                <a:spcPts val="0"/>
              </a:spcAft>
              <a:buNone/>
            </a:pPr>
            <a:r>
              <a:rPr b="1" lang="tr"/>
              <a:t>Conclusions: </a:t>
            </a:r>
            <a:endParaRPr b="1"/>
          </a:p>
          <a:p>
            <a:pPr indent="-342900" lvl="0" marL="457200" rtl="0" algn="l">
              <a:spcBef>
                <a:spcPts val="1200"/>
              </a:spcBef>
              <a:spcAft>
                <a:spcPts val="0"/>
              </a:spcAft>
              <a:buSzPts val="1800"/>
              <a:buChar char="●"/>
            </a:pPr>
            <a:r>
              <a:rPr lang="tr"/>
              <a:t>The density of genre provides us with a target</a:t>
            </a:r>
            <a:endParaRPr/>
          </a:p>
          <a:p>
            <a:pPr indent="-342900" lvl="0" marL="457200" rtl="0" algn="l">
              <a:spcBef>
                <a:spcPts val="0"/>
              </a:spcBef>
              <a:spcAft>
                <a:spcPts val="0"/>
              </a:spcAft>
              <a:buSzPts val="1800"/>
              <a:buChar char="●"/>
            </a:pPr>
            <a:r>
              <a:rPr lang="tr"/>
              <a:t>Should the most preferred genre be our goals?</a:t>
            </a:r>
            <a:endParaRPr/>
          </a:p>
          <a:p>
            <a:pPr indent="-342900" lvl="0" marL="457200" rtl="0" algn="l">
              <a:spcBef>
                <a:spcPts val="0"/>
              </a:spcBef>
              <a:spcAft>
                <a:spcPts val="0"/>
              </a:spcAft>
              <a:buSzPts val="1800"/>
              <a:buChar char="●"/>
            </a:pPr>
            <a:r>
              <a:rPr lang="tr"/>
              <a:t>The right director, the right genre will carry us to high revenues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Top Directors</a:t>
            </a:r>
            <a:endParaRPr/>
          </a:p>
        </p:txBody>
      </p:sp>
      <p:sp>
        <p:nvSpPr>
          <p:cNvPr id="93" name="Google Shape;93;p18"/>
          <p:cNvSpPr txBox="1"/>
          <p:nvPr>
            <p:ph idx="1" type="body"/>
          </p:nvPr>
        </p:nvSpPr>
        <p:spPr>
          <a:xfrm>
            <a:off x="311700" y="935750"/>
            <a:ext cx="8520600" cy="3633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tr"/>
              <a:t>I</a:t>
            </a:r>
            <a:r>
              <a:rPr lang="tr"/>
              <a:t> examined data from imdb, in top 10</a:t>
            </a:r>
            <a:endParaRPr/>
          </a:p>
          <a:p>
            <a:pPr indent="-342900" lvl="0" marL="457200" rtl="0" algn="l">
              <a:spcBef>
                <a:spcPts val="0"/>
              </a:spcBef>
              <a:spcAft>
                <a:spcPts val="0"/>
              </a:spcAft>
              <a:buSzPts val="1800"/>
              <a:buChar char="-"/>
            </a:pPr>
            <a:r>
              <a:rPr lang="tr"/>
              <a:t>As you see Christopher Nolan at higher ranks</a:t>
            </a:r>
            <a:br>
              <a:rPr lang="tr"/>
            </a:br>
            <a:endParaRPr/>
          </a:p>
          <a:p>
            <a:pPr indent="0" lvl="0" marL="457200" rtl="0" algn="l">
              <a:spcBef>
                <a:spcPts val="1200"/>
              </a:spcBef>
              <a:spcAft>
                <a:spcPts val="1200"/>
              </a:spcAft>
              <a:buNone/>
            </a:pPr>
            <a:r>
              <a:t/>
            </a:r>
            <a:endParaRPr/>
          </a:p>
        </p:txBody>
      </p:sp>
      <p:pic>
        <p:nvPicPr>
          <p:cNvPr id="94" name="Google Shape;94;p18"/>
          <p:cNvPicPr preferRelativeResize="0"/>
          <p:nvPr/>
        </p:nvPicPr>
        <p:blipFill>
          <a:blip r:embed="rId3">
            <a:alphaModFix/>
          </a:blip>
          <a:stretch>
            <a:fillRect/>
          </a:stretch>
        </p:blipFill>
        <p:spPr>
          <a:xfrm>
            <a:off x="1136725" y="1837000"/>
            <a:ext cx="6544975" cy="3268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319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most popular movies</a:t>
            </a:r>
            <a:endParaRPr/>
          </a:p>
        </p:txBody>
      </p:sp>
      <p:sp>
        <p:nvSpPr>
          <p:cNvPr id="100" name="Google Shape;10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1" name="Google Shape;101;p19"/>
          <p:cNvPicPr preferRelativeResize="0"/>
          <p:nvPr/>
        </p:nvPicPr>
        <p:blipFill>
          <a:blip r:embed="rId3">
            <a:alphaModFix/>
          </a:blip>
          <a:stretch>
            <a:fillRect/>
          </a:stretch>
        </p:blipFill>
        <p:spPr>
          <a:xfrm>
            <a:off x="0" y="946075"/>
            <a:ext cx="9112673" cy="4478800"/>
          </a:xfrm>
          <a:prstGeom prst="rect">
            <a:avLst/>
          </a:prstGeom>
          <a:noFill/>
          <a:ln>
            <a:noFill/>
          </a:ln>
        </p:spPr>
      </p:pic>
      <p:sp>
        <p:nvSpPr>
          <p:cNvPr id="102" name="Google Shape;102;p19"/>
          <p:cNvSpPr txBox="1"/>
          <p:nvPr/>
        </p:nvSpPr>
        <p:spPr>
          <a:xfrm>
            <a:off x="3945700" y="1777125"/>
            <a:ext cx="3476100" cy="1477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tr"/>
              <a:t>Drama 419</a:t>
            </a:r>
            <a:endParaRPr/>
          </a:p>
          <a:p>
            <a:pPr indent="-317500" lvl="0" marL="457200" rtl="0" algn="l">
              <a:spcBef>
                <a:spcPts val="0"/>
              </a:spcBef>
              <a:spcAft>
                <a:spcPts val="0"/>
              </a:spcAft>
              <a:buSzPts val="1400"/>
              <a:buChar char="-"/>
            </a:pPr>
            <a:r>
              <a:rPr lang="tr"/>
              <a:t>Action 277</a:t>
            </a:r>
            <a:endParaRPr/>
          </a:p>
          <a:p>
            <a:pPr indent="-317500" lvl="0" marL="457200" rtl="0" algn="l">
              <a:spcBef>
                <a:spcPts val="0"/>
              </a:spcBef>
              <a:spcAft>
                <a:spcPts val="0"/>
              </a:spcAft>
              <a:buSzPts val="1400"/>
              <a:buChar char="-"/>
            </a:pPr>
            <a:r>
              <a:rPr lang="tr"/>
              <a:t>Adventure 244</a:t>
            </a:r>
            <a:endParaRPr/>
          </a:p>
          <a:p>
            <a:pPr indent="-317500" lvl="0" marL="457200" rtl="0" algn="l">
              <a:spcBef>
                <a:spcPts val="0"/>
              </a:spcBef>
              <a:spcAft>
                <a:spcPts val="0"/>
              </a:spcAft>
              <a:buSzPts val="1400"/>
              <a:buChar char="-"/>
            </a:pPr>
            <a:r>
              <a:rPr lang="tr"/>
              <a:t>Crime 126</a:t>
            </a:r>
            <a:endParaRPr/>
          </a:p>
          <a:p>
            <a:pPr indent="-317500" lvl="0" marL="457200" rtl="0" algn="l">
              <a:spcBef>
                <a:spcPts val="0"/>
              </a:spcBef>
              <a:spcAft>
                <a:spcPts val="0"/>
              </a:spcAft>
              <a:buSzPts val="1400"/>
              <a:buChar char="-"/>
            </a:pPr>
            <a:r>
              <a:rPr lang="tr"/>
              <a:t>Sci-Fi 107</a:t>
            </a:r>
            <a:endParaRPr/>
          </a:p>
          <a:p>
            <a:pPr indent="0" lvl="0" marL="0" rtl="0" algn="l">
              <a:spcBef>
                <a:spcPts val="0"/>
              </a:spcBef>
              <a:spcAft>
                <a:spcPts val="0"/>
              </a:spcAft>
              <a:buNone/>
            </a:pPr>
            <a:r>
              <a:rPr lang="t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REVENUE</a:t>
            </a:r>
            <a:endParaRPr/>
          </a:p>
        </p:txBody>
      </p:sp>
      <p:sp>
        <p:nvSpPr>
          <p:cNvPr id="108" name="Google Shape;108;p20"/>
          <p:cNvSpPr txBox="1"/>
          <p:nvPr>
            <p:ph idx="1" type="body"/>
          </p:nvPr>
        </p:nvSpPr>
        <p:spPr>
          <a:xfrm>
            <a:off x="5545850" y="1152475"/>
            <a:ext cx="3286500" cy="31530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b="1" lang="tr"/>
              <a:t>Conclusion:</a:t>
            </a:r>
            <a:endParaRPr b="1"/>
          </a:p>
          <a:p>
            <a:pPr indent="0" lvl="0" marL="0" rtl="0" algn="l">
              <a:spcBef>
                <a:spcPts val="1200"/>
              </a:spcBef>
              <a:spcAft>
                <a:spcPts val="1200"/>
              </a:spcAft>
              <a:buNone/>
            </a:pPr>
            <a:r>
              <a:rPr lang="tr"/>
              <a:t>When we look at the highest-grossing films, we see action-adventure science fiction films, but there is a situation we need to pay attention to, the shooting costs of these films are very high. When we look at the films with the highest ratings and the highest number of views, drama is in the foreground and if we take into account the shooting costs, drama films are on the forefront again.</a:t>
            </a:r>
            <a:endParaRPr/>
          </a:p>
        </p:txBody>
      </p:sp>
      <p:pic>
        <p:nvPicPr>
          <p:cNvPr id="109" name="Google Shape;109;p20"/>
          <p:cNvPicPr preferRelativeResize="0"/>
          <p:nvPr/>
        </p:nvPicPr>
        <p:blipFill>
          <a:blip r:embed="rId3">
            <a:alphaModFix/>
          </a:blip>
          <a:stretch>
            <a:fillRect/>
          </a:stretch>
        </p:blipFill>
        <p:spPr>
          <a:xfrm>
            <a:off x="80475" y="1152475"/>
            <a:ext cx="5358102" cy="31530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General Conclusion</a:t>
            </a:r>
            <a:endParaRPr/>
          </a:p>
        </p:txBody>
      </p:sp>
      <p:sp>
        <p:nvSpPr>
          <p:cNvPr id="115" name="Google Shape;11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tr"/>
              <a:t>The films with the highest rankings were determined.</a:t>
            </a:r>
            <a:endParaRPr/>
          </a:p>
          <a:p>
            <a:pPr indent="-342900" lvl="0" marL="457200" rtl="0" algn="l">
              <a:spcBef>
                <a:spcPts val="0"/>
              </a:spcBef>
              <a:spcAft>
                <a:spcPts val="0"/>
              </a:spcAft>
              <a:buSzPts val="1800"/>
              <a:buChar char="●"/>
            </a:pPr>
            <a:r>
              <a:rPr lang="tr"/>
              <a:t>best directors determined</a:t>
            </a:r>
            <a:endParaRPr/>
          </a:p>
          <a:p>
            <a:pPr indent="-342900" lvl="0" marL="457200" rtl="0" algn="l">
              <a:spcBef>
                <a:spcPts val="0"/>
              </a:spcBef>
              <a:spcAft>
                <a:spcPts val="0"/>
              </a:spcAft>
              <a:buSzPts val="1800"/>
              <a:buChar char="●"/>
            </a:pPr>
            <a:r>
              <a:rPr lang="tr"/>
              <a:t>imdb,rotten tomatoes,tmdb data were analyzed and it was determined that the most preferred movies were drama</a:t>
            </a:r>
            <a:endParaRPr/>
          </a:p>
          <a:p>
            <a:pPr indent="-342900" lvl="0" marL="457200" rtl="0" algn="l">
              <a:spcBef>
                <a:spcPts val="0"/>
              </a:spcBef>
              <a:spcAft>
                <a:spcPts val="0"/>
              </a:spcAft>
              <a:buSzPts val="1800"/>
              <a:buChar char="●"/>
            </a:pPr>
            <a:r>
              <a:rPr lang="tr"/>
              <a:t>Not seeing drama among the top-grossing doesn't mean a failed genre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U</a:t>
            </a:r>
            <a:r>
              <a:rPr lang="tr"/>
              <a:t>nhappy Faces are the Harbinger of Happy Days</a:t>
            </a:r>
            <a:endParaRPr/>
          </a:p>
        </p:txBody>
      </p:sp>
      <p:pic>
        <p:nvPicPr>
          <p:cNvPr id="121" name="Google Shape;121;p22"/>
          <p:cNvPicPr preferRelativeResize="0"/>
          <p:nvPr/>
        </p:nvPicPr>
        <p:blipFill>
          <a:blip r:embed="rId3">
            <a:alphaModFix/>
          </a:blip>
          <a:stretch>
            <a:fillRect/>
          </a:stretch>
        </p:blipFill>
        <p:spPr>
          <a:xfrm>
            <a:off x="1708225" y="1017725"/>
            <a:ext cx="5104474" cy="3503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C</a:t>
            </a:r>
            <a:r>
              <a:rPr lang="tr"/>
              <a:t>onclusion</a:t>
            </a:r>
            <a:endParaRPr/>
          </a:p>
        </p:txBody>
      </p:sp>
      <p:sp>
        <p:nvSpPr>
          <p:cNvPr id="127" name="Google Shape;12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tr"/>
              <a:t>using the data, it was determined that the most interacted genre was drama</a:t>
            </a:r>
            <a:endParaRPr/>
          </a:p>
          <a:p>
            <a:pPr indent="-342900" lvl="0" marL="457200" rtl="0" algn="l">
              <a:spcBef>
                <a:spcPts val="0"/>
              </a:spcBef>
              <a:spcAft>
                <a:spcPts val="0"/>
              </a:spcAft>
              <a:buSzPts val="1800"/>
              <a:buChar char="●"/>
            </a:pPr>
            <a:r>
              <a:rPr lang="tr"/>
              <a:t>It will be a better study for our company if we prefer this tour because of the low cost of shooting and the possibility of winning an award in the international film field.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Thank You !</a:t>
            </a:r>
            <a:endParaRPr/>
          </a:p>
        </p:txBody>
      </p:sp>
      <p:sp>
        <p:nvSpPr>
          <p:cNvPr id="133" name="Google Shape;133;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tr"/>
              <a:t>Please feel free to ask any questions now</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tr"/>
              <a:t>You may also reach me via email:</a:t>
            </a:r>
            <a:endParaRPr/>
          </a:p>
          <a:p>
            <a:pPr indent="0" lvl="0" marL="0" rtl="0" algn="l">
              <a:spcBef>
                <a:spcPts val="1200"/>
              </a:spcBef>
              <a:spcAft>
                <a:spcPts val="0"/>
              </a:spcAft>
              <a:buNone/>
            </a:pPr>
            <a:r>
              <a:rPr lang="tr"/>
              <a:t>Ahmet Karaoglan</a:t>
            </a:r>
            <a:endParaRPr/>
          </a:p>
          <a:p>
            <a:pPr indent="0" lvl="0" marL="0" rtl="0" algn="l">
              <a:spcBef>
                <a:spcPts val="1200"/>
              </a:spcBef>
              <a:spcAft>
                <a:spcPts val="1200"/>
              </a:spcAft>
              <a:buNone/>
            </a:pPr>
            <a:r>
              <a:rPr lang="tr"/>
              <a:t>karaoglanahmet@hotmail.com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